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4" r:id="rId6"/>
    <p:sldId id="268" r:id="rId7"/>
    <p:sldId id="286" r:id="rId8"/>
    <p:sldId id="262" r:id="rId9"/>
    <p:sldId id="279" r:id="rId10"/>
    <p:sldId id="292" r:id="rId11"/>
    <p:sldId id="293" r:id="rId12"/>
    <p:sldId id="294" r:id="rId13"/>
    <p:sldId id="260" r:id="rId14"/>
    <p:sldId id="295" r:id="rId15"/>
    <p:sldId id="296" r:id="rId16"/>
    <p:sldId id="297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3204" autoAdjust="0"/>
  </p:normalViewPr>
  <p:slideViewPr>
    <p:cSldViewPr snapToGrid="0">
      <p:cViewPr varScale="1">
        <p:scale>
          <a:sx n="64" d="100"/>
          <a:sy n="64" d="100"/>
        </p:scale>
        <p:origin x="984" y="66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0026AC-0E22-433F-B1D6-A4DC806AB099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EDD792-4624-40E9-AB75-8F17D74F0B27}">
      <dgm:prSet phldrT="[Text]" phldr="0"/>
      <dgm:spPr/>
      <dgm:t>
        <a:bodyPr/>
        <a:lstStyle/>
        <a:p>
          <a:r>
            <a:rPr lang="en-US" dirty="0"/>
            <a:t>I Planning</a:t>
          </a:r>
        </a:p>
      </dgm:t>
    </dgm:pt>
    <dgm:pt modelId="{BA552435-C1E6-445C-B7B8-BF199C5DB810}" type="parTrans" cxnId="{8044A153-8F70-43E4-AD85-D75D5D8E14E5}">
      <dgm:prSet/>
      <dgm:spPr/>
      <dgm:t>
        <a:bodyPr/>
        <a:lstStyle/>
        <a:p>
          <a:endParaRPr lang="en-US"/>
        </a:p>
      </dgm:t>
    </dgm:pt>
    <dgm:pt modelId="{EEC4ADE8-FB06-44BE-9F5D-87D40E177ADA}" type="sibTrans" cxnId="{8044A153-8F70-43E4-AD85-D75D5D8E14E5}">
      <dgm:prSet/>
      <dgm:spPr/>
      <dgm:t>
        <a:bodyPr/>
        <a:lstStyle/>
        <a:p>
          <a:endParaRPr lang="en-US"/>
        </a:p>
      </dgm:t>
    </dgm:pt>
    <dgm:pt modelId="{2A1A1C24-1F2E-4200-9498-1ED98EE9CDF8}">
      <dgm:prSet phldrT="[Text]"/>
      <dgm:spPr/>
      <dgm:t>
        <a:bodyPr/>
        <a:lstStyle/>
        <a:p>
          <a:r>
            <a:rPr lang="en-US" dirty="0"/>
            <a:t>Define objectives</a:t>
          </a:r>
        </a:p>
      </dgm:t>
    </dgm:pt>
    <dgm:pt modelId="{D07CE73F-8090-44E8-92E5-75951D970EE1}" type="parTrans" cxnId="{04E77560-D811-4A24-9CCA-EABB63B3EC9E}">
      <dgm:prSet/>
      <dgm:spPr/>
      <dgm:t>
        <a:bodyPr/>
        <a:lstStyle/>
        <a:p>
          <a:endParaRPr lang="en-US"/>
        </a:p>
      </dgm:t>
    </dgm:pt>
    <dgm:pt modelId="{68669157-7D3D-438D-893B-F0651FB36618}" type="sibTrans" cxnId="{04E77560-D811-4A24-9CCA-EABB63B3EC9E}">
      <dgm:prSet/>
      <dgm:spPr/>
      <dgm:t>
        <a:bodyPr/>
        <a:lstStyle/>
        <a:p>
          <a:endParaRPr lang="en-US"/>
        </a:p>
      </dgm:t>
    </dgm:pt>
    <dgm:pt modelId="{3A3A965F-C5FD-4011-9D55-FF3B6063E545}">
      <dgm:prSet phldrT="[Text]"/>
      <dgm:spPr/>
      <dgm:t>
        <a:bodyPr/>
        <a:lstStyle/>
        <a:p>
          <a:r>
            <a:rPr lang="en-US" dirty="0"/>
            <a:t>Identify risks</a:t>
          </a:r>
        </a:p>
      </dgm:t>
    </dgm:pt>
    <dgm:pt modelId="{D3383D1E-390D-40CA-B006-C7BC848FDE93}" type="parTrans" cxnId="{4A30B01C-11AA-41FB-A2BF-5F35CF9944A6}">
      <dgm:prSet/>
      <dgm:spPr/>
      <dgm:t>
        <a:bodyPr/>
        <a:lstStyle/>
        <a:p>
          <a:endParaRPr lang="en-US"/>
        </a:p>
      </dgm:t>
    </dgm:pt>
    <dgm:pt modelId="{351E4702-CBD1-42E1-A5A1-A1A4328A15BA}" type="sibTrans" cxnId="{4A30B01C-11AA-41FB-A2BF-5F35CF9944A6}">
      <dgm:prSet/>
      <dgm:spPr/>
      <dgm:t>
        <a:bodyPr/>
        <a:lstStyle/>
        <a:p>
          <a:endParaRPr lang="en-US"/>
        </a:p>
      </dgm:t>
    </dgm:pt>
    <dgm:pt modelId="{C954566C-6FD1-41AC-9D0E-4DA0C7DA9D40}">
      <dgm:prSet phldrT="[Text]" phldr="0"/>
      <dgm:spPr/>
      <dgm:t>
        <a:bodyPr/>
        <a:lstStyle/>
        <a:p>
          <a:r>
            <a:rPr lang="en-US" dirty="0"/>
            <a:t>II Fieldwork</a:t>
          </a:r>
        </a:p>
      </dgm:t>
    </dgm:pt>
    <dgm:pt modelId="{47CAAB99-F434-4FF0-95CB-D1AD73FBCCBA}" type="parTrans" cxnId="{46A68282-90ED-4284-9606-00F306DBE444}">
      <dgm:prSet/>
      <dgm:spPr/>
      <dgm:t>
        <a:bodyPr/>
        <a:lstStyle/>
        <a:p>
          <a:endParaRPr lang="en-US"/>
        </a:p>
      </dgm:t>
    </dgm:pt>
    <dgm:pt modelId="{5614BF32-8D9A-48E2-B488-DE5D0A2B140A}" type="sibTrans" cxnId="{46A68282-90ED-4284-9606-00F306DBE444}">
      <dgm:prSet/>
      <dgm:spPr/>
      <dgm:t>
        <a:bodyPr/>
        <a:lstStyle/>
        <a:p>
          <a:endParaRPr lang="en-US"/>
        </a:p>
      </dgm:t>
    </dgm:pt>
    <dgm:pt modelId="{D65CE607-64E8-4EAE-9707-C2C6E36FD2C4}">
      <dgm:prSet phldrT="[Text]"/>
      <dgm:spPr/>
      <dgm:t>
        <a:bodyPr/>
        <a:lstStyle/>
        <a:p>
          <a:r>
            <a:rPr lang="en-US" dirty="0"/>
            <a:t>Control testing</a:t>
          </a:r>
        </a:p>
      </dgm:t>
    </dgm:pt>
    <dgm:pt modelId="{D1041AE7-0C69-4A0E-B711-89B00FE0BEFB}" type="parTrans" cxnId="{FAA16618-5669-4F33-BD87-19F0125E1A03}">
      <dgm:prSet/>
      <dgm:spPr/>
      <dgm:t>
        <a:bodyPr/>
        <a:lstStyle/>
        <a:p>
          <a:endParaRPr lang="en-US"/>
        </a:p>
      </dgm:t>
    </dgm:pt>
    <dgm:pt modelId="{14AD8FF5-9053-45D5-89B5-A721D448EA59}" type="sibTrans" cxnId="{FAA16618-5669-4F33-BD87-19F0125E1A03}">
      <dgm:prSet/>
      <dgm:spPr/>
      <dgm:t>
        <a:bodyPr/>
        <a:lstStyle/>
        <a:p>
          <a:endParaRPr lang="en-US"/>
        </a:p>
      </dgm:t>
    </dgm:pt>
    <dgm:pt modelId="{07F4A9A7-FA32-4553-B042-18ACAF5132F9}">
      <dgm:prSet phldrT="[Text]"/>
      <dgm:spPr/>
      <dgm:t>
        <a:bodyPr/>
        <a:lstStyle/>
        <a:p>
          <a:r>
            <a:rPr lang="en-US" dirty="0"/>
            <a:t>Data analysis</a:t>
          </a:r>
        </a:p>
      </dgm:t>
    </dgm:pt>
    <dgm:pt modelId="{1B5AFEB0-769D-46CE-BA57-5D5C255B2FA9}" type="parTrans" cxnId="{B6B31680-4CAD-4EE3-A8A1-F8F2D179BE1E}">
      <dgm:prSet/>
      <dgm:spPr/>
      <dgm:t>
        <a:bodyPr/>
        <a:lstStyle/>
        <a:p>
          <a:endParaRPr lang="en-US"/>
        </a:p>
      </dgm:t>
    </dgm:pt>
    <dgm:pt modelId="{60FB3CC4-6F93-432D-A298-123F18B9D11A}" type="sibTrans" cxnId="{B6B31680-4CAD-4EE3-A8A1-F8F2D179BE1E}">
      <dgm:prSet/>
      <dgm:spPr/>
      <dgm:t>
        <a:bodyPr/>
        <a:lstStyle/>
        <a:p>
          <a:endParaRPr lang="en-US"/>
        </a:p>
      </dgm:t>
    </dgm:pt>
    <dgm:pt modelId="{2E66EEA6-05C6-4450-AE81-7EE02353C4D3}">
      <dgm:prSet phldrT="[Text]" phldr="0"/>
      <dgm:spPr/>
      <dgm:t>
        <a:bodyPr/>
        <a:lstStyle/>
        <a:p>
          <a:r>
            <a:rPr lang="en-US" dirty="0"/>
            <a:t>III Reporting</a:t>
          </a:r>
        </a:p>
      </dgm:t>
    </dgm:pt>
    <dgm:pt modelId="{3839EBBE-EA22-476E-8B17-887F7D6037CD}" type="parTrans" cxnId="{3373F5E6-E125-4A4F-A395-52D12F76893E}">
      <dgm:prSet/>
      <dgm:spPr/>
      <dgm:t>
        <a:bodyPr/>
        <a:lstStyle/>
        <a:p>
          <a:endParaRPr lang="en-US"/>
        </a:p>
      </dgm:t>
    </dgm:pt>
    <dgm:pt modelId="{EA630E8C-96BF-4F61-92A9-278014C10034}" type="sibTrans" cxnId="{3373F5E6-E125-4A4F-A395-52D12F76893E}">
      <dgm:prSet/>
      <dgm:spPr/>
      <dgm:t>
        <a:bodyPr/>
        <a:lstStyle/>
        <a:p>
          <a:endParaRPr lang="en-US"/>
        </a:p>
      </dgm:t>
    </dgm:pt>
    <dgm:pt modelId="{4B35F188-4E58-48FD-A3F0-17E674454C34}">
      <dgm:prSet phldrT="[Text]"/>
      <dgm:spPr/>
      <dgm:t>
        <a:bodyPr/>
        <a:lstStyle/>
        <a:p>
          <a:r>
            <a:rPr lang="en-US" dirty="0"/>
            <a:t>Findings</a:t>
          </a:r>
        </a:p>
      </dgm:t>
    </dgm:pt>
    <dgm:pt modelId="{E5818861-EC90-4382-96F2-92EB2EBD3CCF}" type="parTrans" cxnId="{50079D40-E05C-49D1-BEC0-CDF99B64B9B3}">
      <dgm:prSet/>
      <dgm:spPr/>
      <dgm:t>
        <a:bodyPr/>
        <a:lstStyle/>
        <a:p>
          <a:endParaRPr lang="en-US"/>
        </a:p>
      </dgm:t>
    </dgm:pt>
    <dgm:pt modelId="{02E93369-69E8-4AE1-8900-C9F324E97A69}" type="sibTrans" cxnId="{50079D40-E05C-49D1-BEC0-CDF99B64B9B3}">
      <dgm:prSet/>
      <dgm:spPr/>
      <dgm:t>
        <a:bodyPr/>
        <a:lstStyle/>
        <a:p>
          <a:endParaRPr lang="en-US"/>
        </a:p>
      </dgm:t>
    </dgm:pt>
    <dgm:pt modelId="{3EC9853A-0165-41D2-B016-E1E5B7C54013}">
      <dgm:prSet phldrT="[Text]"/>
      <dgm:spPr/>
      <dgm:t>
        <a:bodyPr/>
        <a:lstStyle/>
        <a:p>
          <a:r>
            <a:rPr lang="en-US" dirty="0"/>
            <a:t>Recommendations</a:t>
          </a:r>
        </a:p>
      </dgm:t>
    </dgm:pt>
    <dgm:pt modelId="{72DF0C1C-43FD-4D0C-B964-01559DB13A4B}" type="parTrans" cxnId="{E0B1374B-A391-4A2C-B6D6-A7E6164A0CCB}">
      <dgm:prSet/>
      <dgm:spPr/>
      <dgm:t>
        <a:bodyPr/>
        <a:lstStyle/>
        <a:p>
          <a:endParaRPr lang="en-US"/>
        </a:p>
      </dgm:t>
    </dgm:pt>
    <dgm:pt modelId="{A8EDE1D2-D64A-499B-90EE-8A55338B7157}" type="sibTrans" cxnId="{E0B1374B-A391-4A2C-B6D6-A7E6164A0CCB}">
      <dgm:prSet/>
      <dgm:spPr/>
      <dgm:t>
        <a:bodyPr/>
        <a:lstStyle/>
        <a:p>
          <a:endParaRPr lang="en-US"/>
        </a:p>
      </dgm:t>
    </dgm:pt>
    <dgm:pt modelId="{1A9DCDEF-23F1-4396-ABDB-49C431077245}">
      <dgm:prSet phldrT="[Text]"/>
      <dgm:spPr/>
      <dgm:t>
        <a:bodyPr/>
        <a:lstStyle/>
        <a:p>
          <a:r>
            <a:rPr lang="en-US" dirty="0"/>
            <a:t>Prepare audit checklist.</a:t>
          </a:r>
        </a:p>
      </dgm:t>
    </dgm:pt>
    <dgm:pt modelId="{0D869D8A-1BE7-4912-8963-C41B57F8E20A}" type="parTrans" cxnId="{AE9AFA82-14A4-4CDB-A16A-A7FE778F740B}">
      <dgm:prSet/>
      <dgm:spPr/>
      <dgm:t>
        <a:bodyPr/>
        <a:lstStyle/>
        <a:p>
          <a:endParaRPr lang="en-US"/>
        </a:p>
      </dgm:t>
    </dgm:pt>
    <dgm:pt modelId="{6D5D2314-BD21-4E4E-B63D-FA2E04D96AE5}" type="sibTrans" cxnId="{AE9AFA82-14A4-4CDB-A16A-A7FE778F740B}">
      <dgm:prSet/>
      <dgm:spPr/>
      <dgm:t>
        <a:bodyPr/>
        <a:lstStyle/>
        <a:p>
          <a:endParaRPr lang="en-US"/>
        </a:p>
      </dgm:t>
    </dgm:pt>
    <dgm:pt modelId="{8141E608-639E-48A8-88F1-7862A3D9D6C4}">
      <dgm:prSet phldrT="[Text]"/>
      <dgm:spPr/>
      <dgm:t>
        <a:bodyPr/>
        <a:lstStyle/>
        <a:p>
          <a:r>
            <a:rPr lang="en-US" dirty="0"/>
            <a:t>Sampling.</a:t>
          </a:r>
        </a:p>
      </dgm:t>
    </dgm:pt>
    <dgm:pt modelId="{7EFAC184-BF86-4B06-B99F-222AED882D19}" type="parTrans" cxnId="{A920E653-3B52-4D5A-B3BC-71C299347694}">
      <dgm:prSet/>
      <dgm:spPr/>
      <dgm:t>
        <a:bodyPr/>
        <a:lstStyle/>
        <a:p>
          <a:endParaRPr lang="en-US"/>
        </a:p>
      </dgm:t>
    </dgm:pt>
    <dgm:pt modelId="{C508C33A-8543-4AF9-878D-0D0780930952}" type="sibTrans" cxnId="{A920E653-3B52-4D5A-B3BC-71C299347694}">
      <dgm:prSet/>
      <dgm:spPr/>
      <dgm:t>
        <a:bodyPr/>
        <a:lstStyle/>
        <a:p>
          <a:endParaRPr lang="en-US"/>
        </a:p>
      </dgm:t>
    </dgm:pt>
    <dgm:pt modelId="{57F44187-C7B8-49BE-9EC9-D9F986277B27}">
      <dgm:prSet phldrT="[Text]"/>
      <dgm:spPr/>
      <dgm:t>
        <a:bodyPr/>
        <a:lstStyle/>
        <a:p>
          <a:r>
            <a:rPr lang="en-US" dirty="0"/>
            <a:t>Risk rating.</a:t>
          </a:r>
        </a:p>
      </dgm:t>
    </dgm:pt>
    <dgm:pt modelId="{2F25EF17-6D1E-4AFA-9200-8D5E72A38546}" type="parTrans" cxnId="{51B70BFD-1927-489A-B0D2-239F9A6EB9D1}">
      <dgm:prSet/>
      <dgm:spPr/>
      <dgm:t>
        <a:bodyPr/>
        <a:lstStyle/>
        <a:p>
          <a:endParaRPr lang="en-US"/>
        </a:p>
      </dgm:t>
    </dgm:pt>
    <dgm:pt modelId="{54DB2F5C-BCB1-49CF-91A4-9845739F5601}" type="sibTrans" cxnId="{51B70BFD-1927-489A-B0D2-239F9A6EB9D1}">
      <dgm:prSet/>
      <dgm:spPr/>
      <dgm:t>
        <a:bodyPr/>
        <a:lstStyle/>
        <a:p>
          <a:endParaRPr lang="en-US"/>
        </a:p>
      </dgm:t>
    </dgm:pt>
    <dgm:pt modelId="{9DA1B7E6-F055-4511-9998-F3BBADECC3CB}">
      <dgm:prSet phldrT="[Text]"/>
      <dgm:spPr/>
      <dgm:t>
        <a:bodyPr/>
        <a:lstStyle/>
        <a:p>
          <a:r>
            <a:rPr lang="en-US" dirty="0"/>
            <a:t>IV Monitoring</a:t>
          </a:r>
        </a:p>
      </dgm:t>
    </dgm:pt>
    <dgm:pt modelId="{8CD49AA3-4F8D-4897-92C3-988B4D0A18CF}" type="parTrans" cxnId="{DEB17945-C171-4879-919C-4176DFA6144E}">
      <dgm:prSet/>
      <dgm:spPr/>
      <dgm:t>
        <a:bodyPr/>
        <a:lstStyle/>
        <a:p>
          <a:endParaRPr lang="en-US"/>
        </a:p>
      </dgm:t>
    </dgm:pt>
    <dgm:pt modelId="{35FA002E-A059-4A9D-8AF6-095A7D9D602D}" type="sibTrans" cxnId="{DEB17945-C171-4879-919C-4176DFA6144E}">
      <dgm:prSet/>
      <dgm:spPr/>
      <dgm:t>
        <a:bodyPr/>
        <a:lstStyle/>
        <a:p>
          <a:endParaRPr lang="en-US"/>
        </a:p>
      </dgm:t>
    </dgm:pt>
    <dgm:pt modelId="{3CD56E06-5C99-49C3-ADF9-30549D295613}">
      <dgm:prSet phldrT="[Text]"/>
      <dgm:spPr/>
      <dgm:t>
        <a:bodyPr/>
        <a:lstStyle/>
        <a:p>
          <a:r>
            <a:rPr lang="en-US" dirty="0"/>
            <a:t>Follow-up actions.</a:t>
          </a:r>
        </a:p>
      </dgm:t>
    </dgm:pt>
    <dgm:pt modelId="{7BE1949C-64D5-4826-91BA-10CE7DF9167E}" type="parTrans" cxnId="{87B841A2-5606-4545-A621-B0A85A776237}">
      <dgm:prSet/>
      <dgm:spPr/>
      <dgm:t>
        <a:bodyPr/>
        <a:lstStyle/>
        <a:p>
          <a:endParaRPr lang="en-US"/>
        </a:p>
      </dgm:t>
    </dgm:pt>
    <dgm:pt modelId="{726E2300-0A99-4391-BF86-BF8AF3D599AE}" type="sibTrans" cxnId="{87B841A2-5606-4545-A621-B0A85A776237}">
      <dgm:prSet/>
      <dgm:spPr/>
      <dgm:t>
        <a:bodyPr/>
        <a:lstStyle/>
        <a:p>
          <a:endParaRPr lang="en-US"/>
        </a:p>
      </dgm:t>
    </dgm:pt>
    <dgm:pt modelId="{51B9B482-5FA8-4D3C-BE57-0A80447CC25F}" type="pres">
      <dgm:prSet presAssocID="{620026AC-0E22-433F-B1D6-A4DC806AB099}" presName="Name0" presStyleCnt="0">
        <dgm:presLayoutVars>
          <dgm:dir/>
          <dgm:resizeHandles val="exact"/>
        </dgm:presLayoutVars>
      </dgm:prSet>
      <dgm:spPr/>
    </dgm:pt>
    <dgm:pt modelId="{C006F3E9-9C70-421F-BE40-58B9E10A526A}" type="pres">
      <dgm:prSet presAssocID="{BBEDD792-4624-40E9-AB75-8F17D74F0B27}" presName="node" presStyleLbl="node1" presStyleIdx="0" presStyleCnt="4">
        <dgm:presLayoutVars>
          <dgm:bulletEnabled val="1"/>
        </dgm:presLayoutVars>
      </dgm:prSet>
      <dgm:spPr/>
    </dgm:pt>
    <dgm:pt modelId="{73128381-8813-4BC3-94E2-3D54C6778EE6}" type="pres">
      <dgm:prSet presAssocID="{EEC4ADE8-FB06-44BE-9F5D-87D40E177ADA}" presName="sibTrans" presStyleCnt="0"/>
      <dgm:spPr/>
    </dgm:pt>
    <dgm:pt modelId="{9136E322-60BD-41C8-A3F4-E341758C0045}" type="pres">
      <dgm:prSet presAssocID="{C954566C-6FD1-41AC-9D0E-4DA0C7DA9D40}" presName="node" presStyleLbl="node1" presStyleIdx="1" presStyleCnt="4">
        <dgm:presLayoutVars>
          <dgm:bulletEnabled val="1"/>
        </dgm:presLayoutVars>
      </dgm:prSet>
      <dgm:spPr/>
    </dgm:pt>
    <dgm:pt modelId="{59B91505-926E-4758-BEDD-DC8BD420F79A}" type="pres">
      <dgm:prSet presAssocID="{5614BF32-8D9A-48E2-B488-DE5D0A2B140A}" presName="sibTrans" presStyleCnt="0"/>
      <dgm:spPr/>
    </dgm:pt>
    <dgm:pt modelId="{25D30762-7F08-40EE-A7D6-CC9EF9C0CC68}" type="pres">
      <dgm:prSet presAssocID="{2E66EEA6-05C6-4450-AE81-7EE02353C4D3}" presName="node" presStyleLbl="node1" presStyleIdx="2" presStyleCnt="4">
        <dgm:presLayoutVars>
          <dgm:bulletEnabled val="1"/>
        </dgm:presLayoutVars>
      </dgm:prSet>
      <dgm:spPr/>
    </dgm:pt>
    <dgm:pt modelId="{784E4F4A-401F-4B0D-898F-07C585FF3B6C}" type="pres">
      <dgm:prSet presAssocID="{EA630E8C-96BF-4F61-92A9-278014C10034}" presName="sibTrans" presStyleCnt="0"/>
      <dgm:spPr/>
    </dgm:pt>
    <dgm:pt modelId="{5855B380-AE3F-4EB2-9452-9DCBA9606627}" type="pres">
      <dgm:prSet presAssocID="{9DA1B7E6-F055-4511-9998-F3BBADECC3CB}" presName="node" presStyleLbl="node1" presStyleIdx="3" presStyleCnt="4">
        <dgm:presLayoutVars>
          <dgm:bulletEnabled val="1"/>
        </dgm:presLayoutVars>
      </dgm:prSet>
      <dgm:spPr/>
    </dgm:pt>
  </dgm:ptLst>
  <dgm:cxnLst>
    <dgm:cxn modelId="{FAA16618-5669-4F33-BD87-19F0125E1A03}" srcId="{C954566C-6FD1-41AC-9D0E-4DA0C7DA9D40}" destId="{D65CE607-64E8-4EAE-9707-C2C6E36FD2C4}" srcOrd="0" destOrd="0" parTransId="{D1041AE7-0C69-4A0E-B711-89B00FE0BEFB}" sibTransId="{14AD8FF5-9053-45D5-89B5-A721D448EA59}"/>
    <dgm:cxn modelId="{4A30B01C-11AA-41FB-A2BF-5F35CF9944A6}" srcId="{BBEDD792-4624-40E9-AB75-8F17D74F0B27}" destId="{3A3A965F-C5FD-4011-9D55-FF3B6063E545}" srcOrd="1" destOrd="0" parTransId="{D3383D1E-390D-40CA-B006-C7BC848FDE93}" sibTransId="{351E4702-CBD1-42E1-A5A1-A1A4328A15BA}"/>
    <dgm:cxn modelId="{DA48DE1F-48D4-4EDA-B9EC-4ED95CB6C004}" type="presOf" srcId="{620026AC-0E22-433F-B1D6-A4DC806AB099}" destId="{51B9B482-5FA8-4D3C-BE57-0A80447CC25F}" srcOrd="0" destOrd="0" presId="urn:microsoft.com/office/officeart/2005/8/layout/hList6"/>
    <dgm:cxn modelId="{50079D40-E05C-49D1-BEC0-CDF99B64B9B3}" srcId="{2E66EEA6-05C6-4450-AE81-7EE02353C4D3}" destId="{4B35F188-4E58-48FD-A3F0-17E674454C34}" srcOrd="0" destOrd="0" parTransId="{E5818861-EC90-4382-96F2-92EB2EBD3CCF}" sibTransId="{02E93369-69E8-4AE1-8900-C9F324E97A69}"/>
    <dgm:cxn modelId="{04E77560-D811-4A24-9CCA-EABB63B3EC9E}" srcId="{BBEDD792-4624-40E9-AB75-8F17D74F0B27}" destId="{2A1A1C24-1F2E-4200-9498-1ED98EE9CDF8}" srcOrd="0" destOrd="0" parTransId="{D07CE73F-8090-44E8-92E5-75951D970EE1}" sibTransId="{68669157-7D3D-438D-893B-F0651FB36618}"/>
    <dgm:cxn modelId="{DEB17945-C171-4879-919C-4176DFA6144E}" srcId="{620026AC-0E22-433F-B1D6-A4DC806AB099}" destId="{9DA1B7E6-F055-4511-9998-F3BBADECC3CB}" srcOrd="3" destOrd="0" parTransId="{8CD49AA3-4F8D-4897-92C3-988B4D0A18CF}" sibTransId="{35FA002E-A059-4A9D-8AF6-095A7D9D602D}"/>
    <dgm:cxn modelId="{512F7C66-3A16-40F0-A157-2F61A1EB67B5}" type="presOf" srcId="{C954566C-6FD1-41AC-9D0E-4DA0C7DA9D40}" destId="{9136E322-60BD-41C8-A3F4-E341758C0045}" srcOrd="0" destOrd="0" presId="urn:microsoft.com/office/officeart/2005/8/layout/hList6"/>
    <dgm:cxn modelId="{E0B1374B-A391-4A2C-B6D6-A7E6164A0CCB}" srcId="{2E66EEA6-05C6-4450-AE81-7EE02353C4D3}" destId="{3EC9853A-0165-41D2-B016-E1E5B7C54013}" srcOrd="1" destOrd="0" parTransId="{72DF0C1C-43FD-4D0C-B964-01559DB13A4B}" sibTransId="{A8EDE1D2-D64A-499B-90EE-8A55338B7157}"/>
    <dgm:cxn modelId="{1854CD6D-2EC3-470F-930B-3A02E504D6CB}" type="presOf" srcId="{2A1A1C24-1F2E-4200-9498-1ED98EE9CDF8}" destId="{C006F3E9-9C70-421F-BE40-58B9E10A526A}" srcOrd="0" destOrd="1" presId="urn:microsoft.com/office/officeart/2005/8/layout/hList6"/>
    <dgm:cxn modelId="{8044A153-8F70-43E4-AD85-D75D5D8E14E5}" srcId="{620026AC-0E22-433F-B1D6-A4DC806AB099}" destId="{BBEDD792-4624-40E9-AB75-8F17D74F0B27}" srcOrd="0" destOrd="0" parTransId="{BA552435-C1E6-445C-B7B8-BF199C5DB810}" sibTransId="{EEC4ADE8-FB06-44BE-9F5D-87D40E177ADA}"/>
    <dgm:cxn modelId="{A920E653-3B52-4D5A-B3BC-71C299347694}" srcId="{C954566C-6FD1-41AC-9D0E-4DA0C7DA9D40}" destId="{8141E608-639E-48A8-88F1-7862A3D9D6C4}" srcOrd="2" destOrd="0" parTransId="{7EFAC184-BF86-4B06-B99F-222AED882D19}" sibTransId="{C508C33A-8543-4AF9-878D-0D0780930952}"/>
    <dgm:cxn modelId="{75B2A255-6211-4295-878B-6004FF362DD2}" type="presOf" srcId="{BBEDD792-4624-40E9-AB75-8F17D74F0B27}" destId="{C006F3E9-9C70-421F-BE40-58B9E10A526A}" srcOrd="0" destOrd="0" presId="urn:microsoft.com/office/officeart/2005/8/layout/hList6"/>
    <dgm:cxn modelId="{B6B31680-4CAD-4EE3-A8A1-F8F2D179BE1E}" srcId="{C954566C-6FD1-41AC-9D0E-4DA0C7DA9D40}" destId="{07F4A9A7-FA32-4553-B042-18ACAF5132F9}" srcOrd="1" destOrd="0" parTransId="{1B5AFEB0-769D-46CE-BA57-5D5C255B2FA9}" sibTransId="{60FB3CC4-6F93-432D-A298-123F18B9D11A}"/>
    <dgm:cxn modelId="{46A68282-90ED-4284-9606-00F306DBE444}" srcId="{620026AC-0E22-433F-B1D6-A4DC806AB099}" destId="{C954566C-6FD1-41AC-9D0E-4DA0C7DA9D40}" srcOrd="1" destOrd="0" parTransId="{47CAAB99-F434-4FF0-95CB-D1AD73FBCCBA}" sibTransId="{5614BF32-8D9A-48E2-B488-DE5D0A2B140A}"/>
    <dgm:cxn modelId="{AE9AFA82-14A4-4CDB-A16A-A7FE778F740B}" srcId="{BBEDD792-4624-40E9-AB75-8F17D74F0B27}" destId="{1A9DCDEF-23F1-4396-ABDB-49C431077245}" srcOrd="2" destOrd="0" parTransId="{0D869D8A-1BE7-4912-8963-C41B57F8E20A}" sibTransId="{6D5D2314-BD21-4E4E-B63D-FA2E04D96AE5}"/>
    <dgm:cxn modelId="{624D5884-CFF9-4C77-913A-55EDE62C83B1}" type="presOf" srcId="{3A3A965F-C5FD-4011-9D55-FF3B6063E545}" destId="{C006F3E9-9C70-421F-BE40-58B9E10A526A}" srcOrd="0" destOrd="2" presId="urn:microsoft.com/office/officeart/2005/8/layout/hList6"/>
    <dgm:cxn modelId="{22B7AA8A-0F06-4579-A893-ED0F0D492671}" type="presOf" srcId="{57F44187-C7B8-49BE-9EC9-D9F986277B27}" destId="{25D30762-7F08-40EE-A7D6-CC9EF9C0CC68}" srcOrd="0" destOrd="3" presId="urn:microsoft.com/office/officeart/2005/8/layout/hList6"/>
    <dgm:cxn modelId="{87B841A2-5606-4545-A621-B0A85A776237}" srcId="{9DA1B7E6-F055-4511-9998-F3BBADECC3CB}" destId="{3CD56E06-5C99-49C3-ADF9-30549D295613}" srcOrd="0" destOrd="0" parTransId="{7BE1949C-64D5-4826-91BA-10CE7DF9167E}" sibTransId="{726E2300-0A99-4391-BF86-BF8AF3D599AE}"/>
    <dgm:cxn modelId="{0AEA8AA3-0FFE-460C-9F93-3BE50097EEC8}" type="presOf" srcId="{3EC9853A-0165-41D2-B016-E1E5B7C54013}" destId="{25D30762-7F08-40EE-A7D6-CC9EF9C0CC68}" srcOrd="0" destOrd="2" presId="urn:microsoft.com/office/officeart/2005/8/layout/hList6"/>
    <dgm:cxn modelId="{3AD0C0A4-ECC2-4CC8-9E6D-1B76428391C5}" type="presOf" srcId="{1A9DCDEF-23F1-4396-ABDB-49C431077245}" destId="{C006F3E9-9C70-421F-BE40-58B9E10A526A}" srcOrd="0" destOrd="3" presId="urn:microsoft.com/office/officeart/2005/8/layout/hList6"/>
    <dgm:cxn modelId="{189006A6-73A5-4968-8FC8-B24F5F5EA9B7}" type="presOf" srcId="{9DA1B7E6-F055-4511-9998-F3BBADECC3CB}" destId="{5855B380-AE3F-4EB2-9452-9DCBA9606627}" srcOrd="0" destOrd="0" presId="urn:microsoft.com/office/officeart/2005/8/layout/hList6"/>
    <dgm:cxn modelId="{BD85B5A7-B066-4CAE-B5AC-1F9DD4B4563B}" type="presOf" srcId="{D65CE607-64E8-4EAE-9707-C2C6E36FD2C4}" destId="{9136E322-60BD-41C8-A3F4-E341758C0045}" srcOrd="0" destOrd="1" presId="urn:microsoft.com/office/officeart/2005/8/layout/hList6"/>
    <dgm:cxn modelId="{70DFC1AC-82B3-4B9A-869F-3D2CB66E0DDB}" type="presOf" srcId="{4B35F188-4E58-48FD-A3F0-17E674454C34}" destId="{25D30762-7F08-40EE-A7D6-CC9EF9C0CC68}" srcOrd="0" destOrd="1" presId="urn:microsoft.com/office/officeart/2005/8/layout/hList6"/>
    <dgm:cxn modelId="{F9607BB5-235A-4C74-81E0-DADAE83A786B}" type="presOf" srcId="{8141E608-639E-48A8-88F1-7862A3D9D6C4}" destId="{9136E322-60BD-41C8-A3F4-E341758C0045}" srcOrd="0" destOrd="3" presId="urn:microsoft.com/office/officeart/2005/8/layout/hList6"/>
    <dgm:cxn modelId="{A34719BC-F304-43FD-93DC-08C51A3F5C5D}" type="presOf" srcId="{07F4A9A7-FA32-4553-B042-18ACAF5132F9}" destId="{9136E322-60BD-41C8-A3F4-E341758C0045}" srcOrd="0" destOrd="2" presId="urn:microsoft.com/office/officeart/2005/8/layout/hList6"/>
    <dgm:cxn modelId="{CAFDDBC1-E714-4096-A595-E1A4DEE26F75}" type="presOf" srcId="{3CD56E06-5C99-49C3-ADF9-30549D295613}" destId="{5855B380-AE3F-4EB2-9452-9DCBA9606627}" srcOrd="0" destOrd="1" presId="urn:microsoft.com/office/officeart/2005/8/layout/hList6"/>
    <dgm:cxn modelId="{EBBD56C4-A2E8-4517-AA27-B7A4F9E849D5}" type="presOf" srcId="{2E66EEA6-05C6-4450-AE81-7EE02353C4D3}" destId="{25D30762-7F08-40EE-A7D6-CC9EF9C0CC68}" srcOrd="0" destOrd="0" presId="urn:microsoft.com/office/officeart/2005/8/layout/hList6"/>
    <dgm:cxn modelId="{3373F5E6-E125-4A4F-A395-52D12F76893E}" srcId="{620026AC-0E22-433F-B1D6-A4DC806AB099}" destId="{2E66EEA6-05C6-4450-AE81-7EE02353C4D3}" srcOrd="2" destOrd="0" parTransId="{3839EBBE-EA22-476E-8B17-887F7D6037CD}" sibTransId="{EA630E8C-96BF-4F61-92A9-278014C10034}"/>
    <dgm:cxn modelId="{51B70BFD-1927-489A-B0D2-239F9A6EB9D1}" srcId="{2E66EEA6-05C6-4450-AE81-7EE02353C4D3}" destId="{57F44187-C7B8-49BE-9EC9-D9F986277B27}" srcOrd="2" destOrd="0" parTransId="{2F25EF17-6D1E-4AFA-9200-8D5E72A38546}" sibTransId="{54DB2F5C-BCB1-49CF-91A4-9845739F5601}"/>
    <dgm:cxn modelId="{77A281AF-3345-46DB-AE80-DBA67A66CB56}" type="presParOf" srcId="{51B9B482-5FA8-4D3C-BE57-0A80447CC25F}" destId="{C006F3E9-9C70-421F-BE40-58B9E10A526A}" srcOrd="0" destOrd="0" presId="urn:microsoft.com/office/officeart/2005/8/layout/hList6"/>
    <dgm:cxn modelId="{ACA7B85F-0342-4939-A5BD-B9C7295E563D}" type="presParOf" srcId="{51B9B482-5FA8-4D3C-BE57-0A80447CC25F}" destId="{73128381-8813-4BC3-94E2-3D54C6778EE6}" srcOrd="1" destOrd="0" presId="urn:microsoft.com/office/officeart/2005/8/layout/hList6"/>
    <dgm:cxn modelId="{CC323179-51F5-4EE7-84A7-1902759E6FB4}" type="presParOf" srcId="{51B9B482-5FA8-4D3C-BE57-0A80447CC25F}" destId="{9136E322-60BD-41C8-A3F4-E341758C0045}" srcOrd="2" destOrd="0" presId="urn:microsoft.com/office/officeart/2005/8/layout/hList6"/>
    <dgm:cxn modelId="{5A68F463-1470-43F7-9E56-D685FC8C2044}" type="presParOf" srcId="{51B9B482-5FA8-4D3C-BE57-0A80447CC25F}" destId="{59B91505-926E-4758-BEDD-DC8BD420F79A}" srcOrd="3" destOrd="0" presId="urn:microsoft.com/office/officeart/2005/8/layout/hList6"/>
    <dgm:cxn modelId="{A4DA3F4F-4EC4-4483-81CA-0EAC3CCD6BA1}" type="presParOf" srcId="{51B9B482-5FA8-4D3C-BE57-0A80447CC25F}" destId="{25D30762-7F08-40EE-A7D6-CC9EF9C0CC68}" srcOrd="4" destOrd="0" presId="urn:microsoft.com/office/officeart/2005/8/layout/hList6"/>
    <dgm:cxn modelId="{4E6BDB5E-04A2-46C1-9C83-ED4354D4CEF2}" type="presParOf" srcId="{51B9B482-5FA8-4D3C-BE57-0A80447CC25F}" destId="{784E4F4A-401F-4B0D-898F-07C585FF3B6C}" srcOrd="5" destOrd="0" presId="urn:microsoft.com/office/officeart/2005/8/layout/hList6"/>
    <dgm:cxn modelId="{1CE7E446-45A0-4F39-B779-1C2477D2F926}" type="presParOf" srcId="{51B9B482-5FA8-4D3C-BE57-0A80447CC25F}" destId="{5855B380-AE3F-4EB2-9452-9DCBA9606627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6F3E9-9C70-421F-BE40-58B9E10A526A}">
      <dsp:nvSpPr>
        <dsp:cNvPr id="0" name=""/>
        <dsp:cNvSpPr/>
      </dsp:nvSpPr>
      <dsp:spPr>
        <a:xfrm rot="16200000">
          <a:off x="-1202609" y="1205027"/>
          <a:ext cx="4782383" cy="2372328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39429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 Planning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Define objectives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Identify risks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Prepare audit checklist.</a:t>
          </a:r>
        </a:p>
      </dsp:txBody>
      <dsp:txXfrm rot="5400000">
        <a:off x="2418" y="956477"/>
        <a:ext cx="2372328" cy="2869429"/>
      </dsp:txXfrm>
    </dsp:sp>
    <dsp:sp modelId="{9136E322-60BD-41C8-A3F4-E341758C0045}">
      <dsp:nvSpPr>
        <dsp:cNvPr id="0" name=""/>
        <dsp:cNvSpPr/>
      </dsp:nvSpPr>
      <dsp:spPr>
        <a:xfrm rot="16200000">
          <a:off x="1347643" y="1205027"/>
          <a:ext cx="4782383" cy="2372328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39429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II Fieldwork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Control testing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Data analysis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Sampling.</a:t>
          </a:r>
        </a:p>
      </dsp:txBody>
      <dsp:txXfrm rot="5400000">
        <a:off x="2552670" y="956477"/>
        <a:ext cx="2372328" cy="2869429"/>
      </dsp:txXfrm>
    </dsp:sp>
    <dsp:sp modelId="{25D30762-7F08-40EE-A7D6-CC9EF9C0CC68}">
      <dsp:nvSpPr>
        <dsp:cNvPr id="0" name=""/>
        <dsp:cNvSpPr/>
      </dsp:nvSpPr>
      <dsp:spPr>
        <a:xfrm rot="16200000">
          <a:off x="3897896" y="1205027"/>
          <a:ext cx="4782383" cy="2372328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39429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III Reporting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Findings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Recommendations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Risk rating.</a:t>
          </a:r>
        </a:p>
      </dsp:txBody>
      <dsp:txXfrm rot="5400000">
        <a:off x="5102923" y="956477"/>
        <a:ext cx="2372328" cy="2869429"/>
      </dsp:txXfrm>
    </dsp:sp>
    <dsp:sp modelId="{5855B380-AE3F-4EB2-9452-9DCBA9606627}">
      <dsp:nvSpPr>
        <dsp:cNvPr id="0" name=""/>
        <dsp:cNvSpPr/>
      </dsp:nvSpPr>
      <dsp:spPr>
        <a:xfrm rot="16200000">
          <a:off x="6448149" y="1205027"/>
          <a:ext cx="4782383" cy="2372328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0" tIns="0" rIns="139429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IV Monitoring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Follow-up actions.</a:t>
          </a:r>
        </a:p>
      </dsp:txBody>
      <dsp:txXfrm rot="5400000">
        <a:off x="7653176" y="956477"/>
        <a:ext cx="2372328" cy="28694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23-Apr-26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23-Apr-26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D9A7-A9FE-438D-0ED6-AF9DBA62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D4015-A8D3-2798-F910-97FF3F202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25911-0410-21F4-0AA1-F721DDD21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1C4EF-AF58-2AE8-740E-2F64434F0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49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BB888-B093-6D5F-1FF4-6734408E3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9B5FE-2818-CBC2-A514-2F4C6CC52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C24C9-F26E-A2FD-D7F1-9A8A077A8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04985-5A28-53D6-C733-E609ECB91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310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401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5AA3-0C43-C042-9CE5-CD3F0145C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07B35-1E36-5DB1-D24A-C24C71EDA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42E80-8268-F578-4F62-697F68756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49EAB-2920-D651-C0D2-91F5436A0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341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D3171-17AB-ADDE-6A70-F9A183A0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6E5D7-0F8E-33EF-D4E6-6E7CE5B94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F516E-5DF0-45EF-C86F-2B277F26A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2F612-8F27-B4BD-9070-9D1FC08B3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76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4D93E-56B5-9103-B41A-6D551C1B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3CF-C0F4-A49E-8847-524730C7B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3AB0B-DCD6-E621-5890-DA604CEEF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1B2A5-341C-788C-0F00-351236D6F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653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Autofit/>
          </a:bodyPr>
          <a:lstStyle/>
          <a:p>
            <a:r>
              <a:rPr lang="en-US" sz="4800" dirty="0" err="1"/>
              <a:t>Techfiction</a:t>
            </a:r>
            <a:r>
              <a:rPr lang="en-US" sz="4800" dirty="0"/>
              <a:t> </a:t>
            </a:r>
            <a:r>
              <a:rPr lang="en-US" sz="4800" dirty="0" err="1"/>
              <a:t>corp</a:t>
            </a:r>
            <a:r>
              <a:rPr lang="en-US" sz="4800" dirty="0"/>
              <a:t> </a:t>
            </a:r>
            <a:br>
              <a:rPr lang="en-US" sz="4800" dirty="0"/>
            </a:br>
            <a:br>
              <a:rPr lang="en-US" sz="4800" dirty="0"/>
            </a:br>
            <a:r>
              <a:rPr lang="en-US" sz="4800" dirty="0"/>
              <a:t>information security management system</a:t>
            </a:r>
            <a:br>
              <a:rPr lang="en-US" sz="4800" dirty="0"/>
            </a:br>
            <a:r>
              <a:rPr lang="en-US" sz="4800" dirty="0"/>
              <a:t>ad hoc Audit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C9675-666D-D404-5D2C-324AFCDC7B7E}"/>
              </a:ext>
            </a:extLst>
          </p:cNvPr>
          <p:cNvSpPr txBox="1"/>
          <p:nvPr/>
        </p:nvSpPr>
        <p:spPr>
          <a:xfrm>
            <a:off x="6955435" y="5165229"/>
            <a:ext cx="64008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APRIL 			2026</a:t>
            </a:r>
          </a:p>
          <a:p>
            <a:r>
              <a:rPr lang="en-US" sz="4000" b="1" dirty="0">
                <a:solidFill>
                  <a:schemeClr val="tx2"/>
                </a:solidFill>
              </a:rPr>
              <a:t>EDMAN TANGJONG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edmantangjong@protonmail.com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A mid-sized it services company that manages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3059113"/>
            <a:ext cx="6597650" cy="32956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Cloud infrastructure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Customer data / PII (Personally Identifiable Information)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Financial systems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Internal HR systems.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Issues and requests​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Recent issues:</a:t>
            </a:r>
          </a:p>
          <a:p>
            <a:pPr lvl="1"/>
            <a:r>
              <a:rPr lang="en-US" dirty="0"/>
              <a:t>Delayed Patching</a:t>
            </a:r>
          </a:p>
          <a:p>
            <a:pPr lvl="1"/>
            <a:r>
              <a:rPr lang="en-US" dirty="0"/>
              <a:t>Incidents of unauthorized access​</a:t>
            </a:r>
          </a:p>
          <a:p>
            <a:pPr lvl="1"/>
            <a:r>
              <a:rPr lang="en-US" dirty="0"/>
              <a:t>Missing Audit logs</a:t>
            </a:r>
          </a:p>
          <a:p>
            <a:pPr lvl="1"/>
            <a:r>
              <a:rPr lang="en-US" dirty="0"/>
              <a:t>Vulnerable / Weak password policies.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738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Audit Committee has requested an internal ISMS audit to assess:</a:t>
            </a:r>
          </a:p>
          <a:p>
            <a:pPr lvl="1"/>
            <a:r>
              <a:rPr lang="en-US" dirty="0"/>
              <a:t>Compliance with </a:t>
            </a:r>
            <a:r>
              <a:rPr lang="en-US" i="1" dirty="0"/>
              <a:t>ISO/IEC 27001 </a:t>
            </a:r>
            <a:r>
              <a:rPr lang="en-US" dirty="0"/>
              <a:t>principles</a:t>
            </a:r>
          </a:p>
          <a:p>
            <a:pPr lvl="1"/>
            <a:r>
              <a:rPr lang="en-US" dirty="0"/>
              <a:t>Effectiveness of risk management</a:t>
            </a:r>
          </a:p>
          <a:p>
            <a:pPr lvl="1"/>
            <a:r>
              <a:rPr lang="en-US" dirty="0"/>
              <a:t>Internal controls.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/>
              <a:t>Audit scope &amp; objectives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3259056"/>
            <a:ext cx="2994660" cy="300653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Audit Objectives</a:t>
            </a:r>
          </a:p>
          <a:p>
            <a:pPr marL="342900" indent="-342900">
              <a:buAutoNum type="alphaLcPeriod"/>
            </a:pPr>
            <a:r>
              <a:rPr lang="en-US" dirty="0"/>
              <a:t>Evaluate information security controls effectiveness</a:t>
            </a:r>
          </a:p>
          <a:p>
            <a:pPr marL="342900" indent="-342900">
              <a:buAutoNum type="alphaLcPeriod"/>
            </a:pPr>
            <a:r>
              <a:rPr lang="en-US" dirty="0"/>
              <a:t>Assess compliance with policies</a:t>
            </a:r>
          </a:p>
          <a:p>
            <a:pPr marL="342900" indent="-342900">
              <a:buAutoNum type="alphaLcPeriod"/>
            </a:pPr>
            <a:r>
              <a:rPr lang="en-US" dirty="0"/>
              <a:t>Identify security risks and vulnerabilities</a:t>
            </a:r>
          </a:p>
          <a:p>
            <a:pPr marL="342900" indent="-342900">
              <a:buAutoNum type="alphaLcPeriod"/>
            </a:pPr>
            <a:r>
              <a:rPr lang="en-US" dirty="0"/>
              <a:t>Recommend corrective actions.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6431" y="3253740"/>
            <a:ext cx="5195679" cy="3467735"/>
          </a:xfrm>
        </p:spPr>
        <p:txBody>
          <a:bodyPr>
            <a:normAutofit/>
          </a:bodyPr>
          <a:lstStyle/>
          <a:p>
            <a:r>
              <a:rPr lang="en-US" dirty="0"/>
              <a:t>Audit Scope</a:t>
            </a:r>
          </a:p>
          <a:p>
            <a:r>
              <a:rPr lang="en-US" dirty="0"/>
              <a:t>Included:​</a:t>
            </a:r>
          </a:p>
          <a:p>
            <a:pPr lvl="1"/>
            <a:r>
              <a:rPr lang="en-US" dirty="0"/>
              <a:t>Data Security</a:t>
            </a:r>
          </a:p>
          <a:p>
            <a:pPr lvl="1"/>
            <a:r>
              <a:rPr lang="en-US" dirty="0"/>
              <a:t>Incident Management​</a:t>
            </a:r>
          </a:p>
          <a:p>
            <a:pPr lvl="1"/>
            <a:r>
              <a:rPr lang="en-US" dirty="0"/>
              <a:t>Network Security</a:t>
            </a:r>
          </a:p>
          <a:p>
            <a:pPr lvl="1"/>
            <a:r>
              <a:rPr lang="en-US" dirty="0"/>
              <a:t>User Access Management.</a:t>
            </a:r>
          </a:p>
          <a:p>
            <a:r>
              <a:rPr lang="en-US" dirty="0"/>
              <a:t>Excluded:​</a:t>
            </a:r>
          </a:p>
          <a:p>
            <a:pPr lvl="1" indent="0">
              <a:buNone/>
            </a:pPr>
            <a:r>
              <a:rPr lang="en-US" dirty="0"/>
              <a:t>Physical security </a:t>
            </a:r>
            <a:r>
              <a:rPr lang="en-US"/>
              <a:t>(due to limited </a:t>
            </a:r>
            <a:r>
              <a:rPr lang="en-US" dirty="0"/>
              <a:t>resources).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5"/>
            <a:ext cx="7606895" cy="750393"/>
          </a:xfrm>
        </p:spPr>
        <p:txBody>
          <a:bodyPr/>
          <a:lstStyle/>
          <a:p>
            <a:r>
              <a:rPr lang="en-US" dirty="0"/>
              <a:t>Definitions &amp;​ Terms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931819" y="1468058"/>
            <a:ext cx="8030331" cy="4888291"/>
          </a:xfrm>
        </p:spPr>
        <p:txBody>
          <a:bodyPr>
            <a:normAutofit fontScale="92500"/>
          </a:bodyPr>
          <a:lstStyle/>
          <a:p>
            <a:r>
              <a:rPr lang="en-US" i="1" dirty="0"/>
              <a:t>Ad Hoc</a:t>
            </a:r>
            <a:r>
              <a:rPr lang="en-US" dirty="0"/>
              <a:t>: Specific / Special time where immediate actions are taken.</a:t>
            </a:r>
          </a:p>
          <a:p>
            <a:r>
              <a:rPr lang="en-US" i="1" dirty="0"/>
              <a:t>Cloud</a:t>
            </a:r>
            <a:r>
              <a:rPr lang="en-US" dirty="0"/>
              <a:t>: An online storage where virtual files are stored.</a:t>
            </a:r>
          </a:p>
          <a:p>
            <a:r>
              <a:rPr lang="en-US" i="1" dirty="0"/>
              <a:t>HR</a:t>
            </a:r>
            <a:r>
              <a:rPr lang="en-US" dirty="0"/>
              <a:t>: Human Resource, section in an organization that deals with employment.</a:t>
            </a:r>
          </a:p>
          <a:p>
            <a:r>
              <a:rPr lang="en-US" i="1" dirty="0"/>
              <a:t>ISMS</a:t>
            </a:r>
            <a:r>
              <a:rPr lang="en-US" dirty="0"/>
              <a:t>: Short for “Information Security Management System”.</a:t>
            </a:r>
          </a:p>
          <a:p>
            <a:r>
              <a:rPr lang="en-US" dirty="0"/>
              <a:t>I</a:t>
            </a:r>
            <a:r>
              <a:rPr lang="en-US" i="1" dirty="0"/>
              <a:t>SO/IEC 27001</a:t>
            </a:r>
            <a:r>
              <a:rPr lang="en-US" dirty="0"/>
              <a:t>: Global standards for Information Security Compliance.</a:t>
            </a:r>
          </a:p>
          <a:p>
            <a:r>
              <a:rPr lang="en-US" i="1" dirty="0"/>
              <a:t>Matrix</a:t>
            </a:r>
            <a:r>
              <a:rPr lang="en-US" dirty="0"/>
              <a:t>: A structured table that shows relation between one or more values</a:t>
            </a:r>
          </a:p>
          <a:p>
            <a:r>
              <a:rPr lang="en-US" i="1" dirty="0"/>
              <a:t>MFA</a:t>
            </a:r>
            <a:r>
              <a:rPr lang="en-US" dirty="0"/>
              <a:t>: Multi-factor Authentication, an extra layer of security other than password.</a:t>
            </a:r>
          </a:p>
          <a:p>
            <a:r>
              <a:rPr lang="en-US" i="1" dirty="0"/>
              <a:t>Patch</a:t>
            </a:r>
            <a:r>
              <a:rPr lang="en-US" dirty="0"/>
              <a:t>: Small changes that fix errors and improve information system.</a:t>
            </a:r>
          </a:p>
          <a:p>
            <a:r>
              <a:rPr lang="en-US" i="1" dirty="0"/>
              <a:t>Sampling</a:t>
            </a:r>
            <a:r>
              <a:rPr lang="en-US" dirty="0"/>
              <a:t>: Picking required data statistical / subjectively.</a:t>
            </a:r>
          </a:p>
          <a:p>
            <a:r>
              <a:rPr lang="en-US" dirty="0"/>
              <a:t>SLA: Short for “Service-level Agreement”, an agreement that external providers must maintain to protect organization’s assets.</a:t>
            </a:r>
          </a:p>
          <a:p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5FB75C3E-5885-49DD-8190-BB1E8C511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>
            <a:normAutofit/>
          </a:bodyPr>
          <a:lstStyle/>
          <a:p>
            <a:r>
              <a:rPr lang="en-US" dirty="0" err="1"/>
              <a:t>METhodology</a:t>
            </a:r>
            <a:r>
              <a:rPr lang="en-US" dirty="0"/>
              <a:t>​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F2D739-E475-54F8-C832-F04A983D0F24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552572" y="1442350"/>
            <a:ext cx="10514507" cy="5138335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D07CF73-C9A1-B0D2-8209-924DEAB1E5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3399480"/>
              </p:ext>
            </p:extLst>
          </p:nvPr>
        </p:nvGraphicFramePr>
        <p:xfrm>
          <a:off x="1552572" y="1573966"/>
          <a:ext cx="10027923" cy="4782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Unauthorized access 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3A7E69BA-FC91-08A5-671F-B53E6E989C6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762000" y="3759290"/>
                <a:ext cx="10663375" cy="277962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50%</m:t>
                    </m:r>
                  </m:oMath>
                </a14:m>
                <a:r>
                  <a:rPr lang="en-US" dirty="0"/>
                  <a:t> Error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=100%−(100%∗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𝐷𝑖𝑠𝑎𝑏𝑙𝑒𝑑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𝑀𝐹𝐴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𝑈𝑠𝑒𝑟𝑠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Likelihood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(Occur sometimes, sometimes not)</a:t>
                </a:r>
              </a:p>
              <a:p>
                <a:r>
                  <a:rPr lang="en-US" dirty="0"/>
                  <a:t>Impact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(Serious but manageable)</a:t>
                </a:r>
              </a:p>
              <a:p>
                <a:r>
                  <a:rPr lang="en-US" dirty="0"/>
                  <a:t>Risk level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=9 [3∗3]</m:t>
                    </m:r>
                  </m:oMath>
                </a14:m>
                <a:r>
                  <a:rPr lang="en-US" dirty="0"/>
                  <a:t> (Planned mitigation; requires regular monitoring).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3A7E69BA-FC91-08A5-671F-B53E6E989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762000" y="3759290"/>
                <a:ext cx="10663375" cy="2779622"/>
              </a:xfrm>
              <a:blipFill>
                <a:blip r:embed="rId3"/>
                <a:stretch>
                  <a:fillRect l="-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DDD52-5886-79FE-0951-B8714697B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657" y="1558893"/>
            <a:ext cx="7794059" cy="208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B15D-9578-A5B2-F38D-9AB9B1C60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8150-C72B-50DD-9C83-1033DD4B7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System patch failure​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CA3624ED-D263-F48C-2490-028B9EE2966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762000" y="3759290"/>
                <a:ext cx="10663375" cy="2779622"/>
              </a:xfrm>
            </p:spPr>
            <p:txBody>
              <a:bodyPr/>
              <a:lstStyle/>
              <a:p>
                <a:r>
                  <a:rPr lang="en-US" dirty="0"/>
                  <a:t>Risk Level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21 (Immediate management action and reporting to the Board).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CA3624ED-D263-F48C-2490-028B9EE29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762000" y="3759290"/>
                <a:ext cx="10663375" cy="2779622"/>
              </a:xfrm>
              <a:blipFill>
                <a:blip r:embed="rId3"/>
                <a:stretch>
                  <a:fillRect l="-343" t="-1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9F6310-AC2F-B250-D6C8-5E60F565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318125-EF11-99B2-DB41-E4FB14E12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408" y="1522361"/>
            <a:ext cx="8332557" cy="223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62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6649-2EBC-B83B-E964-4E818D34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CA95-7D72-EEB7-672C-841D97081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Incident report delay​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7D33523-CC2E-0803-65F3-F3D78F3D1D9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762000" y="3759290"/>
                <a:ext cx="10663375" cy="2779622"/>
              </a:xfrm>
            </p:spPr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Slow response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&gt;48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hours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incidents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Error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=100%−(100%∗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Likelihood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(Could occur but doubtful)</a:t>
                </a:r>
              </a:p>
              <a:p>
                <a:r>
                  <a:rPr lang="en-US" dirty="0"/>
                  <a:t>Impact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 (Significant damage, e.g., PCI-DSS breach).</a:t>
                </a:r>
              </a:p>
              <a:p>
                <a:r>
                  <a:rPr lang="en-US" dirty="0"/>
                  <a:t>Risk level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=8 [2∗4]</m:t>
                    </m:r>
                  </m:oMath>
                </a14:m>
                <a:r>
                  <a:rPr lang="en-US" dirty="0"/>
                  <a:t> (Planned mitigation; requires regular monitoring).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7D33523-CC2E-0803-65F3-F3D78F3D1D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762000" y="3759290"/>
                <a:ext cx="10663375" cy="2779622"/>
              </a:xfrm>
              <a:blipFill>
                <a:blip r:embed="rId3"/>
                <a:stretch>
                  <a:fillRect l="-343" t="-1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5A660F-E342-63ED-1A80-CCA5E138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203EC-8BC5-F558-6159-77468B7BB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947" y="1558893"/>
            <a:ext cx="8287480" cy="220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54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1B29E87-9C2C-400B-834D-4E4BD6E9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/>
          <a:lstStyle/>
          <a:p>
            <a:r>
              <a:rPr lang="en-US" dirty="0"/>
              <a:t>RACM (Risk and control matrix)​</a:t>
            </a:r>
          </a:p>
        </p:txBody>
      </p:sp>
      <p:graphicFrame>
        <p:nvGraphicFramePr>
          <p:cNvPr id="14" name="Table Placeholder 13">
            <a:extLst>
              <a:ext uri="{FF2B5EF4-FFF2-40B4-BE49-F238E27FC236}">
                <a16:creationId xmlns:a16="http://schemas.microsoft.com/office/drawing/2014/main" id="{597B3320-3330-1F17-5E4B-B24CAB0A448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634857493"/>
              </p:ext>
            </p:extLst>
          </p:nvPr>
        </p:nvGraphicFramePr>
        <p:xfrm>
          <a:off x="1105820" y="2449895"/>
          <a:ext cx="9980360" cy="367823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895918">
                  <a:extLst>
                    <a:ext uri="{9D8B030D-6E8A-4147-A177-3AD203B41FA5}">
                      <a16:colId xmlns:a16="http://schemas.microsoft.com/office/drawing/2014/main" val="4239035621"/>
                    </a:ext>
                  </a:extLst>
                </a:gridCol>
                <a:gridCol w="4492689">
                  <a:extLst>
                    <a:ext uri="{9D8B030D-6E8A-4147-A177-3AD203B41FA5}">
                      <a16:colId xmlns:a16="http://schemas.microsoft.com/office/drawing/2014/main" val="1645754944"/>
                    </a:ext>
                  </a:extLst>
                </a:gridCol>
                <a:gridCol w="2591753">
                  <a:extLst>
                    <a:ext uri="{9D8B030D-6E8A-4147-A177-3AD203B41FA5}">
                      <a16:colId xmlns:a16="http://schemas.microsoft.com/office/drawing/2014/main" val="4278473568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</a:rPr>
                        <a:t>Risk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</a:rPr>
                        <a:t>Control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i="0" dirty="0">
                          <a:solidFill>
                            <a:schemeClr val="tx1"/>
                          </a:solidFill>
                          <a:effectLst/>
                        </a:rPr>
                        <a:t>Test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893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</a:rPr>
                        <a:t>Data breach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Firewall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Verify firewall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7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Delayed patching​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Patch policy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Check patch period​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9487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Incident mismanagement​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Response SLA (Service Level Agreement)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Analyze response time​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715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Unauthorized access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MFA (Multi-factor Authentication)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Check MFA status​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074674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80F8A-8629-65B5-4CC0-F14E8EEB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F2D4069-35EC-F549-5AF7-0905E850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/>
          <a:lstStyle/>
          <a:p>
            <a:r>
              <a:rPr lang="en-US" dirty="0"/>
              <a:t>I	Weak authentication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Placeholder 13">
                <a:extLst>
                  <a:ext uri="{FF2B5EF4-FFF2-40B4-BE49-F238E27FC236}">
                    <a16:creationId xmlns:a16="http://schemas.microsoft.com/office/drawing/2014/main" id="{CC1F95E0-46FB-30E5-B7D1-C9C4B5B81215}"/>
                  </a:ext>
                </a:extLst>
              </p:cNvPr>
              <p:cNvGraphicFramePr>
                <a:graphicFrameLocks noGrp="1"/>
              </p:cNvGraphicFramePr>
              <p:nvPr>
                <p:ph type="tbl" sz="quarter" idx="13"/>
                <p:extLst>
                  <p:ext uri="{D42A27DB-BD31-4B8C-83A1-F6EECF244321}">
                    <p14:modId xmlns:p14="http://schemas.microsoft.com/office/powerpoint/2010/main" val="3448932998"/>
                  </p:ext>
                </p:extLst>
              </p:nvPr>
            </p:nvGraphicFramePr>
            <p:xfrm>
              <a:off x="2833914" y="2221675"/>
              <a:ext cx="6524172" cy="3678235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2119966">
                      <a:extLst>
                        <a:ext uri="{9D8B030D-6E8A-4147-A177-3AD203B41FA5}">
                          <a16:colId xmlns:a16="http://schemas.microsoft.com/office/drawing/2014/main" val="4239035621"/>
                        </a:ext>
                      </a:extLst>
                    </a:gridCol>
                    <a:gridCol w="4404206">
                      <a:extLst>
                        <a:ext uri="{9D8B030D-6E8A-4147-A177-3AD203B41FA5}">
                          <a16:colId xmlns:a16="http://schemas.microsoft.com/office/drawing/2014/main" val="1645754944"/>
                        </a:ext>
                      </a:extLst>
                    </a:gridCol>
                  </a:tblGrid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Criteria</a:t>
                          </a:r>
                          <a:endParaRPr lang="en-US" b="1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MFA required</a:t>
                          </a:r>
                          <a:endParaRPr lang="en-US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8889321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Condition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50%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users lack MFA</a:t>
                          </a:r>
                          <a:endParaRPr lang="en-US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243768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Cause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b="0" i="0" dirty="0">
                              <a:solidFill>
                                <a:srgbClr val="000000"/>
                              </a:solidFill>
                              <a:effectLst/>
                            </a:rPr>
                            <a:t>Poor enforcement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7329487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Consequence​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Unauthorized access risk</a:t>
                          </a:r>
                          <a:endParaRPr lang="en-US" b="0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671568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Corrective Action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Enforce MFA policy</a:t>
                          </a:r>
                          <a:endParaRPr lang="en-US" b="0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830746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Placeholder 13">
                <a:extLst>
                  <a:ext uri="{FF2B5EF4-FFF2-40B4-BE49-F238E27FC236}">
                    <a16:creationId xmlns:a16="http://schemas.microsoft.com/office/drawing/2014/main" id="{CC1F95E0-46FB-30E5-B7D1-C9C4B5B81215}"/>
                  </a:ext>
                </a:extLst>
              </p:cNvPr>
              <p:cNvGraphicFramePr>
                <a:graphicFrameLocks noGrp="1"/>
              </p:cNvGraphicFramePr>
              <p:nvPr>
                <p:ph type="tbl" sz="quarter" idx="13"/>
                <p:extLst>
                  <p:ext uri="{D42A27DB-BD31-4B8C-83A1-F6EECF244321}">
                    <p14:modId xmlns:p14="http://schemas.microsoft.com/office/powerpoint/2010/main" val="3448932998"/>
                  </p:ext>
                </p:extLst>
              </p:nvPr>
            </p:nvGraphicFramePr>
            <p:xfrm>
              <a:off x="2833914" y="2221675"/>
              <a:ext cx="6524172" cy="3678235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2119966">
                      <a:extLst>
                        <a:ext uri="{9D8B030D-6E8A-4147-A177-3AD203B41FA5}">
                          <a16:colId xmlns:a16="http://schemas.microsoft.com/office/drawing/2014/main" val="4239035621"/>
                        </a:ext>
                      </a:extLst>
                    </a:gridCol>
                    <a:gridCol w="4404206">
                      <a:extLst>
                        <a:ext uri="{9D8B030D-6E8A-4147-A177-3AD203B41FA5}">
                          <a16:colId xmlns:a16="http://schemas.microsoft.com/office/drawing/2014/main" val="1645754944"/>
                        </a:ext>
                      </a:extLst>
                    </a:gridCol>
                  </a:tblGrid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Criteria</a:t>
                          </a:r>
                          <a:endParaRPr lang="en-US" b="1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MFA required</a:t>
                          </a:r>
                          <a:endParaRPr lang="en-US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8889321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Condition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204" t="-100826" r="-276" b="-300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243768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Cause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b="0" i="0" dirty="0">
                              <a:solidFill>
                                <a:srgbClr val="000000"/>
                              </a:solidFill>
                              <a:effectLst/>
                            </a:rPr>
                            <a:t>Poor enforcement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7329487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Consequence​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Unauthorized access risk</a:t>
                          </a:r>
                          <a:endParaRPr lang="en-US" b="0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671568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Corrective Action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Enforce MFA policy</a:t>
                          </a:r>
                          <a:endParaRPr lang="en-US" b="0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830746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7C7A38-BFF0-B685-B687-D4E8EB37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263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FF6A-9481-CCEB-7B4A-D398E08D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D6F1DA9-6AC6-CA64-42FB-EC68B395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/>
          <a:lstStyle/>
          <a:p>
            <a:r>
              <a:rPr lang="en-US" dirty="0"/>
              <a:t>II	Patch mismanagement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Placeholder 13">
                <a:extLst>
                  <a:ext uri="{FF2B5EF4-FFF2-40B4-BE49-F238E27FC236}">
                    <a16:creationId xmlns:a16="http://schemas.microsoft.com/office/drawing/2014/main" id="{C8F7552E-38A2-510E-2F4C-07F08BA1280B}"/>
                  </a:ext>
                </a:extLst>
              </p:cNvPr>
              <p:cNvGraphicFramePr>
                <a:graphicFrameLocks noGrp="1"/>
              </p:cNvGraphicFramePr>
              <p:nvPr>
                <p:ph type="tbl" sz="quarter" idx="13"/>
                <p:extLst>
                  <p:ext uri="{D42A27DB-BD31-4B8C-83A1-F6EECF244321}">
                    <p14:modId xmlns:p14="http://schemas.microsoft.com/office/powerpoint/2010/main" val="1493911940"/>
                  </p:ext>
                </p:extLst>
              </p:nvPr>
            </p:nvGraphicFramePr>
            <p:xfrm>
              <a:off x="2833914" y="2221675"/>
              <a:ext cx="6524172" cy="1471294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2119966">
                      <a:extLst>
                        <a:ext uri="{9D8B030D-6E8A-4147-A177-3AD203B41FA5}">
                          <a16:colId xmlns:a16="http://schemas.microsoft.com/office/drawing/2014/main" val="4239035621"/>
                        </a:ext>
                      </a:extLst>
                    </a:gridCol>
                    <a:gridCol w="4404206">
                      <a:extLst>
                        <a:ext uri="{9D8B030D-6E8A-4147-A177-3AD203B41FA5}">
                          <a16:colId xmlns:a16="http://schemas.microsoft.com/office/drawing/2014/main" val="1645754944"/>
                        </a:ext>
                      </a:extLst>
                    </a:gridCol>
                  </a:tblGrid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Condition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50%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users lack MFA</a:t>
                          </a:r>
                          <a:endParaRPr lang="en-US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243768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Consequence​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Unauthorized access risk</a:t>
                          </a:r>
                          <a:endParaRPr lang="en-US" b="0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67156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Placeholder 13">
                <a:extLst>
                  <a:ext uri="{FF2B5EF4-FFF2-40B4-BE49-F238E27FC236}">
                    <a16:creationId xmlns:a16="http://schemas.microsoft.com/office/drawing/2014/main" id="{C8F7552E-38A2-510E-2F4C-07F08BA1280B}"/>
                  </a:ext>
                </a:extLst>
              </p:cNvPr>
              <p:cNvGraphicFramePr>
                <a:graphicFrameLocks noGrp="1"/>
              </p:cNvGraphicFramePr>
              <p:nvPr>
                <p:ph type="tbl" sz="quarter" idx="13"/>
                <p:extLst>
                  <p:ext uri="{D42A27DB-BD31-4B8C-83A1-F6EECF244321}">
                    <p14:modId xmlns:p14="http://schemas.microsoft.com/office/powerpoint/2010/main" val="1493911940"/>
                  </p:ext>
                </p:extLst>
              </p:nvPr>
            </p:nvGraphicFramePr>
            <p:xfrm>
              <a:off x="2833914" y="2221675"/>
              <a:ext cx="6524172" cy="1471294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2119966">
                      <a:extLst>
                        <a:ext uri="{9D8B030D-6E8A-4147-A177-3AD203B41FA5}">
                          <a16:colId xmlns:a16="http://schemas.microsoft.com/office/drawing/2014/main" val="4239035621"/>
                        </a:ext>
                      </a:extLst>
                    </a:gridCol>
                    <a:gridCol w="4404206">
                      <a:extLst>
                        <a:ext uri="{9D8B030D-6E8A-4147-A177-3AD203B41FA5}">
                          <a16:colId xmlns:a16="http://schemas.microsoft.com/office/drawing/2014/main" val="1645754944"/>
                        </a:ext>
                      </a:extLst>
                    </a:gridCol>
                  </a:tblGrid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Condition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204" t="-826" r="-276" b="-10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243768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Consequence​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Unauthorized access risk</a:t>
                          </a:r>
                          <a:endParaRPr lang="en-US" b="0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67156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37D9CC-C95D-F942-88B8-48000292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44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F6D61-8A3C-2C39-4B2D-97CB6785F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AAD499C-5C2A-4F20-4D63-214A85B2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896112"/>
            <a:ext cx="10665845" cy="1325563"/>
          </a:xfrm>
        </p:spPr>
        <p:txBody>
          <a:bodyPr/>
          <a:lstStyle/>
          <a:p>
            <a:r>
              <a:rPr lang="en-US" dirty="0"/>
              <a:t>III	incident response delay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Placeholder 13">
                <a:extLst>
                  <a:ext uri="{FF2B5EF4-FFF2-40B4-BE49-F238E27FC236}">
                    <a16:creationId xmlns:a16="http://schemas.microsoft.com/office/drawing/2014/main" id="{E59C4A33-30A6-7907-1B34-83452C98D35A}"/>
                  </a:ext>
                </a:extLst>
              </p:cNvPr>
              <p:cNvGraphicFramePr>
                <a:graphicFrameLocks noGrp="1"/>
              </p:cNvGraphicFramePr>
              <p:nvPr>
                <p:ph type="tbl" sz="quarter" idx="13"/>
                <p:extLst>
                  <p:ext uri="{D42A27DB-BD31-4B8C-83A1-F6EECF244321}">
                    <p14:modId xmlns:p14="http://schemas.microsoft.com/office/powerpoint/2010/main" val="3716198521"/>
                  </p:ext>
                </p:extLst>
              </p:nvPr>
            </p:nvGraphicFramePr>
            <p:xfrm>
              <a:off x="2833914" y="2221675"/>
              <a:ext cx="6524172" cy="1471294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2119966">
                      <a:extLst>
                        <a:ext uri="{9D8B030D-6E8A-4147-A177-3AD203B41FA5}">
                          <a16:colId xmlns:a16="http://schemas.microsoft.com/office/drawing/2014/main" val="4239035621"/>
                        </a:ext>
                      </a:extLst>
                    </a:gridCol>
                    <a:gridCol w="4404206">
                      <a:extLst>
                        <a:ext uri="{9D8B030D-6E8A-4147-A177-3AD203B41FA5}">
                          <a16:colId xmlns:a16="http://schemas.microsoft.com/office/drawing/2014/main" val="1645754944"/>
                        </a:ext>
                      </a:extLst>
                    </a:gridCol>
                  </a:tblGrid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Condition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Response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&gt; 48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 hours</a:t>
                          </a:r>
                          <a:endParaRPr lang="en-US" b="0" i="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1243768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Consequence​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Increased damage impact</a:t>
                          </a:r>
                          <a:endParaRPr lang="en-US" b="0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671568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Placeholder 13">
                <a:extLst>
                  <a:ext uri="{FF2B5EF4-FFF2-40B4-BE49-F238E27FC236}">
                    <a16:creationId xmlns:a16="http://schemas.microsoft.com/office/drawing/2014/main" id="{E59C4A33-30A6-7907-1B34-83452C98D35A}"/>
                  </a:ext>
                </a:extLst>
              </p:cNvPr>
              <p:cNvGraphicFramePr>
                <a:graphicFrameLocks noGrp="1"/>
              </p:cNvGraphicFramePr>
              <p:nvPr>
                <p:ph type="tbl" sz="quarter" idx="13"/>
                <p:extLst>
                  <p:ext uri="{D42A27DB-BD31-4B8C-83A1-F6EECF244321}">
                    <p14:modId xmlns:p14="http://schemas.microsoft.com/office/powerpoint/2010/main" val="3716198521"/>
                  </p:ext>
                </p:extLst>
              </p:nvPr>
            </p:nvGraphicFramePr>
            <p:xfrm>
              <a:off x="2833914" y="2221675"/>
              <a:ext cx="6524172" cy="1471294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2119966">
                      <a:extLst>
                        <a:ext uri="{9D8B030D-6E8A-4147-A177-3AD203B41FA5}">
                          <a16:colId xmlns:a16="http://schemas.microsoft.com/office/drawing/2014/main" val="4239035621"/>
                        </a:ext>
                      </a:extLst>
                    </a:gridCol>
                    <a:gridCol w="4404206">
                      <a:extLst>
                        <a:ext uri="{9D8B030D-6E8A-4147-A177-3AD203B41FA5}">
                          <a16:colId xmlns:a16="http://schemas.microsoft.com/office/drawing/2014/main" val="1645754944"/>
                        </a:ext>
                      </a:extLst>
                    </a:gridCol>
                  </a:tblGrid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b="1" i="0" dirty="0">
                              <a:solidFill>
                                <a:schemeClr val="tx1"/>
                              </a:solidFill>
                              <a:effectLst/>
                            </a:rPr>
                            <a:t>Condition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8204" t="-826" r="-276" b="-101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2437685"/>
                      </a:ext>
                    </a:extLst>
                  </a:tr>
                  <a:tr h="735647"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</a:rPr>
                            <a:t>Consequence​</a:t>
                          </a:r>
                          <a:endParaRPr lang="en-US" b="1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 rtl="0" fontAlgn="base"/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</a:rPr>
                            <a:t>Increased damage impact</a:t>
                          </a:r>
                          <a:endParaRPr lang="en-US" b="0" i="0" dirty="0">
                            <a:solidFill>
                              <a:srgbClr val="000000"/>
                            </a:solidFill>
                            <a:effectLst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67156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CCF6A-D664-82A2-F37D-E7FF4EFA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247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>
            <a:normAutofit/>
          </a:bodyPr>
          <a:lstStyle/>
          <a:p>
            <a:r>
              <a:rPr lang="en-US" sz="3600" dirty="0"/>
              <a:t>Recommendations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AFFC60-19C3-4901-93F7-7AAF4C09F8C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896340" y="3423773"/>
                <a:ext cx="5528217" cy="2029969"/>
              </a:xfrm>
            </p:spPr>
            <p:txBody>
              <a:bodyPr bIns="0">
                <a:normAutofit lnSpcReduction="10000"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Automate patch management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Continuous monitoring dashboard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Enforce MFA (Multi-Factor Authentication)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err="1"/>
                  <a:t>Implement</a:t>
                </a:r>
                <a:r>
                  <a:rPr lang="fr-FR" dirty="0"/>
                  <a:t> incident </a:t>
                </a:r>
                <a:r>
                  <a:rPr lang="fr-FR" dirty="0" err="1"/>
                  <a:t>response</a:t>
                </a:r>
                <a:r>
                  <a:rPr lang="fr-FR" dirty="0"/>
                  <a:t> SLA (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&lt;24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hours</a:t>
                </a:r>
                <a:r>
                  <a:rPr lang="fr-FR" dirty="0"/>
                  <a:t>).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AFFC60-19C3-4901-93F7-7AAF4C09F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896340" y="3423773"/>
                <a:ext cx="5528217" cy="2029969"/>
              </a:xfrm>
              <a:blipFill>
                <a:blip r:embed="rId3"/>
                <a:stretch>
                  <a:fillRect l="-662" b="-5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{91328604-A030-41C6-B87F-DF4410837047}TF55c86556-70ea-476e-aa05-13a38f2d5b0da1381d77_win32-a3c664429073</Template>
  <TotalTime>1803</TotalTime>
  <Words>601</Words>
  <Application>Microsoft Office PowerPoint</Application>
  <PresentationFormat>Widescreen</PresentationFormat>
  <Paragraphs>140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Avenir Next LT Pro</vt:lpstr>
      <vt:lpstr>Calibri</vt:lpstr>
      <vt:lpstr>Cambria Math</vt:lpstr>
      <vt:lpstr>Wingdings</vt:lpstr>
      <vt:lpstr>Custom</vt:lpstr>
      <vt:lpstr>Techfiction corp   information security management system ad hoc Audit</vt:lpstr>
      <vt:lpstr>A mid-sized it services company that manages</vt:lpstr>
      <vt:lpstr>Issues and requests​</vt:lpstr>
      <vt:lpstr>Audit scope &amp; objectives</vt:lpstr>
      <vt:lpstr>Definitions &amp;​ Terms</vt:lpstr>
      <vt:lpstr>METhodology​</vt:lpstr>
      <vt:lpstr>Unauthorized access ​</vt:lpstr>
      <vt:lpstr>System patch failure​</vt:lpstr>
      <vt:lpstr>Incident report delay​</vt:lpstr>
      <vt:lpstr>RACM (Risk and control matrix)​</vt:lpstr>
      <vt:lpstr>I Weak authentication</vt:lpstr>
      <vt:lpstr>II Patch mismanagement</vt:lpstr>
      <vt:lpstr>III incident response delay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Edman Tangjong</dc:creator>
  <cp:lastModifiedBy>Edman Tangjong</cp:lastModifiedBy>
  <cp:revision>88</cp:revision>
  <dcterms:created xsi:type="dcterms:W3CDTF">2026-04-21T14:56:39Z</dcterms:created>
  <dcterms:modified xsi:type="dcterms:W3CDTF">2026-04-23T10:58:11Z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